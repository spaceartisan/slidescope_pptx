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Region performance (sample)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North</c:v>
                </c:pt>
              </c:strCache>
            </c:strRef>
          </c:tx>
          <c:spPr>
            <a:solidFill>
              <a:srgbClr val="367D8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24</c:v>
                </c:pt>
                <c:pt idx="3">
                  <c:v>29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rgbClr val="367D8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16</c:v>
                </c:pt>
                <c:pt idx="2">
                  <c:v>21</c:v>
                </c:pt>
                <c:pt idx="3">
                  <c:v>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rgbClr val="367D8F"/>
            </a:solidFill>
          </c:spPr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</c:v>
                </c:pt>
                <c:pt idx="1">
                  <c:v>11</c:v>
                </c:pt>
                <c:pt idx="2">
                  <c:v>16</c:v>
                </c:pt>
                <c:pt idx="3">
                  <c:v>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649224"/>
            <a:ext cx="109728" cy="566928"/>
          </a:xfrm>
          <a:prstGeom prst="rect">
            <a:avLst/>
          </a:prstGeom>
          <a:solidFill>
            <a:srgbClr val="57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32104" y="640080"/>
            <a:ext cx="676656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100" b="1">
                <a:solidFill>
                  <a:srgbClr val="57CCBA"/>
                </a:solidFill>
                <a:latin typeface="Aptos"/>
              </a:rPr>
              <a:t>RENDER ENGINE  /  VISUAL TEST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435608"/>
            <a:ext cx="9326880" cy="95097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4700" b="1">
                <a:solidFill>
                  <a:srgbClr val="F4F8FB"/>
                </a:solidFill>
                <a:latin typeface="Aptos"/>
              </a:rPr>
              <a:t>Make every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267712"/>
            <a:ext cx="100584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5000" b="1">
                <a:solidFill>
                  <a:srgbClr val="57CCBA"/>
                </a:solidFill>
                <a:latin typeface="Aptos"/>
              </a:rPr>
              <a:t>inspectable.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419856"/>
            <a:ext cx="6629400" cy="8869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900" b="0">
                <a:solidFill>
                  <a:srgbClr val="9BB2C0"/>
                </a:solidFill>
                <a:latin typeface="Aptos"/>
              </a:rPr>
              <a:t>A browser-native PowerPoint preview that gives AI agents a clear window into the presentation itself.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3504" y="4754880"/>
            <a:ext cx="3154680" cy="585216"/>
          </a:xfrm>
          <a:prstGeom prst="roundRect">
            <a:avLst/>
          </a:prstGeom>
          <a:solidFill>
            <a:srgbClr val="2745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4901184"/>
            <a:ext cx="278892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300" b="1">
                <a:solidFill>
                  <a:srgbClr val="57CCBA"/>
                </a:solidFill>
                <a:latin typeface="Aptos"/>
              </a:rPr>
              <a:t>OFFLINE  •  PYTHON 3.12</a:t>
            </a:r>
          </a:p>
        </p:txBody>
      </p:sp>
      <p:sp>
        <p:nvSpPr>
          <p:cNvPr id="9" name="Oval 8"/>
          <p:cNvSpPr/>
          <p:nvPr/>
        </p:nvSpPr>
        <p:spPr>
          <a:xfrm>
            <a:off x="9482328" y="1325880"/>
            <a:ext cx="1005840" cy="1005840"/>
          </a:xfrm>
          <a:prstGeom prst="ellipse">
            <a:avLst/>
          </a:prstGeom>
          <a:solidFill>
            <a:srgbClr val="255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41864" y="2057400"/>
            <a:ext cx="804672" cy="804672"/>
          </a:xfrm>
          <a:prstGeom prst="ellipse">
            <a:avLst/>
          </a:prstGeom>
          <a:solidFill>
            <a:srgbClr val="57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77656" y="3090672"/>
            <a:ext cx="1170432" cy="1170432"/>
          </a:xfrm>
          <a:prstGeom prst="ellipse">
            <a:avLst/>
          </a:prstGeom>
          <a:solidFill>
            <a:srgbClr val="366D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87000" y="4133087"/>
            <a:ext cx="393192" cy="393192"/>
          </a:xfrm>
          <a:prstGeom prst="ellipse">
            <a:avLst/>
          </a:prstGeom>
          <a:solidFill>
            <a:srgbClr val="EEB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6501384"/>
            <a:ext cx="11201400" cy="12801"/>
          </a:xfrm>
          <a:prstGeom prst="rect">
            <a:avLst/>
          </a:prstGeom>
          <a:solidFill>
            <a:srgbClr val="3A4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6565392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800" b="1">
                <a:solidFill>
                  <a:srgbClr val="9BB2C0"/>
                </a:solidFill>
                <a:latin typeface="Aptos"/>
              </a:rPr>
              <a:t>S L I D E S C O P E   /   RENDERER QA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82528" y="6547104"/>
            <a:ext cx="5943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800" b="1">
                <a:solidFill>
                  <a:srgbClr val="57CCBA"/>
                </a:solidFill>
                <a:latin typeface="Aptos"/>
              </a:rPr>
              <a:t>01 /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200" b="1">
                <a:solidFill>
                  <a:srgbClr val="278780"/>
                </a:solidFill>
                <a:latin typeface="Aptos"/>
              </a:rPr>
              <a:t>02 / COMPONENT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22960"/>
            <a:ext cx="82296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3200" b="1">
                <a:solidFill>
                  <a:srgbClr val="1C2F3A"/>
                </a:solidFill>
                <a:latin typeface="Aptos"/>
              </a:rPr>
              <a:t>Visual primitives &amp;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554480"/>
            <a:ext cx="822960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600" b="0">
                <a:solidFill>
                  <a:srgbClr val="667A86"/>
                </a:solidFill>
                <a:latin typeface="Aptos"/>
              </a:rPr>
              <a:t>Individual elements should render with accurate bounds and editable text runs.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2221992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2377440"/>
            <a:ext cx="2971800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3000" b="1">
                <a:solidFill>
                  <a:srgbClr val="1A7671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3090672"/>
            <a:ext cx="29626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000" b="1">
                <a:solidFill>
                  <a:srgbClr val="64747E"/>
                </a:solidFill>
                <a:latin typeface="Aptos"/>
              </a:rPr>
              <a:t>LAYOUT PRIMITIVES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21992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377440"/>
            <a:ext cx="2971800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3000" b="1">
                <a:solidFill>
                  <a:srgbClr val="1A7671"/>
                </a:solidFill>
                <a:latin typeface="Aptos"/>
              </a:rPr>
              <a:t>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3090672"/>
            <a:ext cx="29626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000" b="1">
                <a:solidFill>
                  <a:srgbClr val="64747E"/>
                </a:solidFill>
                <a:latin typeface="Aptos"/>
              </a:rPr>
              <a:t>PRESET GEOMETRIES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74736" y="2221992"/>
            <a:ext cx="354787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BE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4" y="2377440"/>
            <a:ext cx="2971800" cy="5120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3000" b="1">
                <a:solidFill>
                  <a:srgbClr val="1A7671"/>
                </a:solidFill>
                <a:latin typeface="Aptos"/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75904" y="3090672"/>
            <a:ext cx="2962656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000" b="1">
                <a:solidFill>
                  <a:srgbClr val="64747E"/>
                </a:solidFill>
                <a:latin typeface="Aptos"/>
              </a:rPr>
              <a:t>BROWSER-NATIVE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3959352"/>
            <a:ext cx="484632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2100" b="1">
                <a:solidFill>
                  <a:srgbClr val="1C2F3A"/>
                </a:solidFill>
                <a:latin typeface="Aptos"/>
              </a:rPr>
              <a:t>Shape and color accuracy</a:t>
            </a:r>
          </a:p>
        </p:txBody>
      </p:sp>
      <p:sp>
        <p:nvSpPr>
          <p:cNvPr id="15" name="Chevron 14"/>
          <p:cNvSpPr/>
          <p:nvPr/>
        </p:nvSpPr>
        <p:spPr>
          <a:xfrm>
            <a:off x="694944" y="4617720"/>
            <a:ext cx="969264" cy="905256"/>
          </a:xfrm>
          <a:prstGeom prst="chevron">
            <a:avLst/>
          </a:prstGeom>
          <a:solidFill>
            <a:srgbClr val="57CC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2267712" y="4590288"/>
            <a:ext cx="905256" cy="905256"/>
          </a:xfrm>
          <a:prstGeom prst="diamond">
            <a:avLst/>
          </a:prstGeom>
          <a:solidFill>
            <a:srgbClr val="EEB8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exagon 16"/>
          <p:cNvSpPr/>
          <p:nvPr/>
        </p:nvSpPr>
        <p:spPr>
          <a:xfrm>
            <a:off x="3767328" y="4599432"/>
            <a:ext cx="987552" cy="914400"/>
          </a:xfrm>
          <a:prstGeom prst="hexagon">
            <a:avLst/>
          </a:prstGeom>
          <a:solidFill>
            <a:srgbClr val="6787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586984" y="4581144"/>
            <a:ext cx="969264" cy="950976"/>
          </a:xfrm>
          <a:prstGeom prst="ellipse">
            <a:avLst/>
          </a:prstGeom>
          <a:solidFill>
            <a:srgbClr val="7EAC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0" y="4572000"/>
            <a:ext cx="3547872" cy="1005840"/>
          </a:xfrm>
          <a:prstGeom prst="roundRect">
            <a:avLst/>
          </a:prstGeom>
          <a:solidFill>
            <a:srgbClr val="2649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71231" y="4882896"/>
            <a:ext cx="2926080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300" b="1">
                <a:solidFill>
                  <a:srgbClr val="F4F8FB"/>
                </a:solidFill>
                <a:latin typeface="Aptos"/>
              </a:rPr>
              <a:t>ROUNDED RECTANGLE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501384"/>
            <a:ext cx="11201400" cy="12801"/>
          </a:xfrm>
          <a:prstGeom prst="rect">
            <a:avLst/>
          </a:prstGeom>
          <a:solidFill>
            <a:srgbClr val="3A4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" y="6565392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800" b="1">
                <a:solidFill>
                  <a:srgbClr val="9BB2C0"/>
                </a:solidFill>
                <a:latin typeface="Aptos"/>
              </a:rPr>
              <a:t>S L I D E S C O P E   /   RENDERER 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82528" y="6547104"/>
            <a:ext cx="5943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800" b="1">
                <a:solidFill>
                  <a:srgbClr val="57CCBA"/>
                </a:solidFill>
                <a:latin typeface="Aptos"/>
              </a:rPr>
              <a:t>02 /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11480"/>
            <a:ext cx="82296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200" b="1">
                <a:solidFill>
                  <a:srgbClr val="24827C"/>
                </a:solidFill>
                <a:latin typeface="Aptos"/>
              </a:rPr>
              <a:t>03 / DATA &amp; CHART RENDERING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7315200" cy="5943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3100" b="1">
                <a:solidFill>
                  <a:srgbClr val="213643"/>
                </a:solidFill>
                <a:latin typeface="Aptos"/>
              </a:rPr>
              <a:t>A chart should stay readable.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527048"/>
            <a:ext cx="8229600" cy="338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600" b="0">
                <a:solidFill>
                  <a:srgbClr val="6B7C87"/>
                </a:solidFill>
                <a:latin typeface="Aptos"/>
              </a:rPr>
              <a:t>A basic data chart, a structured table, and small annotations.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1792" y="2148840"/>
          <a:ext cx="6629400" cy="36393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0" y="2231136"/>
          <a:ext cx="3867911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56231"/>
              </a:tblGrid>
              <a:tr h="680313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8F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>
                    <a:solidFill>
                      <a:srgbClr val="22495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4F8FB"/>
                          </a:solidFill>
                          <a:latin typeface="Aptos"/>
                        </a:rPr>
                        <a:t>VALUE</a:t>
                      </a:r>
                    </a:p>
                  </a:txBody>
                  <a:tcPr>
                    <a:solidFill>
                      <a:srgbClr val="224951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444F"/>
                          </a:solidFill>
                          <a:latin typeface="Aptos"/>
                        </a:rPr>
                        <a:t>Text boxes</a:t>
                      </a:r>
                    </a:p>
                  </a:txBody>
                  <a:tcPr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444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>
                    <a:solidFill>
                      <a:srgbClr val="E8F1F1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444F"/>
                          </a:solidFill>
                          <a:latin typeface="Aptos"/>
                        </a:rPr>
                        <a:t>Shapes</a:t>
                      </a:r>
                    </a:p>
                  </a:txBody>
                  <a:tcPr>
                    <a:solidFill>
                      <a:srgbClr val="F8F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444F"/>
                          </a:solidFill>
                          <a:latin typeface="Aptos"/>
                        </a:rPr>
                        <a:t>Pass</a:t>
                      </a:r>
                    </a:p>
                  </a:txBody>
                  <a:tcPr>
                    <a:solidFill>
                      <a:srgbClr val="F8FBFB"/>
                    </a:solidFill>
                  </a:tcPr>
                </a:tc>
              </a:tr>
              <a:tr h="680313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444F"/>
                          </a:solidFill>
                          <a:latin typeface="Aptos"/>
                        </a:rPr>
                        <a:t>Charts</a:t>
                      </a:r>
                    </a:p>
                  </a:txBody>
                  <a:tcPr>
                    <a:solidFill>
                      <a:srgbClr val="E8F1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444F"/>
                          </a:solidFill>
                          <a:latin typeface="Aptos"/>
                        </a:rPr>
                        <a:t>Preview</a:t>
                      </a:r>
                    </a:p>
                  </a:txBody>
                  <a:tcPr>
                    <a:solidFill>
                      <a:srgbClr val="E8F1F1"/>
                    </a:solidFill>
                  </a:tcPr>
                </a:tc>
              </a:tr>
              <a:tr h="680316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444F"/>
                          </a:solidFill>
                          <a:latin typeface="Aptos"/>
                        </a:rPr>
                        <a:t>Grouped objects</a:t>
                      </a:r>
                    </a:p>
                  </a:txBody>
                  <a:tcPr>
                    <a:solidFill>
                      <a:srgbClr val="F8FB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7444F"/>
                          </a:solidFill>
                          <a:latin typeface="Aptos"/>
                        </a:rPr>
                        <a:t>Preview</a:t>
                      </a:r>
                    </a:p>
                  </a:txBody>
                  <a:tcPr>
                    <a:solidFill>
                      <a:srgbClr val="F8FBF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6501384"/>
            <a:ext cx="11201400" cy="12801"/>
          </a:xfrm>
          <a:prstGeom prst="rect">
            <a:avLst/>
          </a:prstGeom>
          <a:solidFill>
            <a:srgbClr val="3A4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6565392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800" b="1">
                <a:solidFill>
                  <a:srgbClr val="9BB2C0"/>
                </a:solidFill>
                <a:latin typeface="Aptos"/>
              </a:rPr>
              <a:t>S L I D E S C O P E   /   RENDERER 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82528" y="6547104"/>
            <a:ext cx="5943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800" b="1">
                <a:solidFill>
                  <a:srgbClr val="57CCBA"/>
                </a:solidFill>
                <a:latin typeface="Aptos"/>
              </a:rPr>
              <a:t>03 /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8229600" cy="3383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200" b="1">
                <a:solidFill>
                  <a:srgbClr val="57CCBA"/>
                </a:solidFill>
                <a:latin typeface="Aptos"/>
              </a:rPr>
              <a:t>04 / IMAGES + RICH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41832"/>
            <a:ext cx="8229600" cy="56692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3200" b="1">
                <a:solidFill>
                  <a:srgbClr val="F4F8FB"/>
                </a:solidFill>
                <a:latin typeface="Aptos"/>
              </a:rPr>
              <a:t>More than a screenshot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6072" y="1645920"/>
            <a:ext cx="6400800" cy="3749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700" b="0">
                <a:solidFill>
                  <a:srgbClr val="9BB2C0"/>
                </a:solidFill>
                <a:latin typeface="Aptos"/>
              </a:rPr>
              <a:t>Objects can be selected, measured and enumerated.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350008"/>
            <a:ext cx="5486400" cy="3474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64808" y="2340864"/>
            <a:ext cx="5010912" cy="3502152"/>
          </a:xfrm>
          <a:prstGeom prst="roundRect">
            <a:avLst/>
          </a:prstGeom>
          <a:solidFill>
            <a:srgbClr val="21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2660904"/>
            <a:ext cx="4114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400" b="1">
                <a:solidFill>
                  <a:srgbClr val="57CCBA"/>
                </a:solidFill>
                <a:latin typeface="Aptos"/>
              </a:rPr>
              <a:t>INSPECTION 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3172968"/>
            <a:ext cx="402336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2300" b="1">
                <a:solidFill>
                  <a:srgbClr val="F4F8FB"/>
                </a:solidFill>
                <a:latin typeface="Aptos"/>
              </a:rPr>
              <a:t>Select any object.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3785615"/>
            <a:ext cx="4114800" cy="11155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600" b="0">
                <a:solidFill>
                  <a:srgbClr val="9BB2C0"/>
                </a:solidFill>
                <a:latin typeface="Aptos"/>
              </a:rPr>
              <a:t>The browser exposes slide objects with stable IDs, geometry, text content, and formatting properties.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0" y="5193792"/>
            <a:ext cx="3063240" cy="384048"/>
          </a:xfrm>
          <a:prstGeom prst="roundRect">
            <a:avLst/>
          </a:prstGeom>
          <a:solidFill>
            <a:srgbClr val="3575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8584" y="5276088"/>
            <a:ext cx="26517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1100" b="1">
                <a:solidFill>
                  <a:srgbClr val="F4F8FB"/>
                </a:solidFill>
                <a:latin typeface="Aptos"/>
              </a:rPr>
              <a:t>PLAYWRIGHT FRIENDLY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01384"/>
            <a:ext cx="11201400" cy="12801"/>
          </a:xfrm>
          <a:prstGeom prst="rect">
            <a:avLst/>
          </a:prstGeom>
          <a:solidFill>
            <a:srgbClr val="3A4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" y="6565392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800" b="1">
                <a:solidFill>
                  <a:srgbClr val="9BB2C0"/>
                </a:solidFill>
                <a:latin typeface="Aptos"/>
              </a:rPr>
              <a:t>S L I D E S C O P E   /   RENDERER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82528" y="6547104"/>
            <a:ext cx="594360" cy="2011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/>
            <a:r>
              <a:rPr sz="800" b="1">
                <a:solidFill>
                  <a:srgbClr val="57CCBA"/>
                </a:solidFill>
                <a:latin typeface="Aptos"/>
              </a:rPr>
              <a:t>04 /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